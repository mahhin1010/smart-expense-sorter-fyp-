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Outfit"/>
      <p:regular r:id="rId20"/>
      <p:bold r:id="rId21"/>
    </p:embeddedFont>
    <p:embeddedFont>
      <p:font typeface="Space Grotesk"/>
      <p:regular r:id="rId22"/>
      <p:bold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E8B5D9-9295-4CCA-A6AF-EBF0ABFE32EA}">
  <a:tblStyle styleId="{16E8B5D9-9295-4CCA-A6AF-EBF0ABFE32E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-regular.fntdata"/><Relationship Id="rId22" Type="http://schemas.openxmlformats.org/officeDocument/2006/relationships/font" Target="fonts/SpaceGrotesk-regular.fntdata"/><Relationship Id="rId21" Type="http://schemas.openxmlformats.org/officeDocument/2006/relationships/font" Target="fonts/Outfit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SpaceGrotes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edbea7ba4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edbea7ba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c9fb3f515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ac9fb3f515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edbea7ba4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edbea7ba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8.jpg"/><Relationship Id="rId6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4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23.png"/><Relationship Id="rId8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rishank-shah/Income-Expense-Tracker" TargetMode="External"/><Relationship Id="rId4" Type="http://schemas.openxmlformats.org/officeDocument/2006/relationships/hyperlink" Target="https://github.com/hita03/Sales-Report-Generator" TargetMode="External"/><Relationship Id="rId5" Type="http://schemas.openxmlformats.org/officeDocument/2006/relationships/hyperlink" Target="https://github.com/hita03/Sales-Report-Generator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help.sadapay.pk/en/articles/7907996-account-statement" TargetMode="External"/><Relationship Id="rId4" Type="http://schemas.openxmlformats.org/officeDocument/2006/relationships/hyperlink" Target="https://help.nayapay.com/article/251-how-can-i-view-my-documents-on-nayapay" TargetMode="External"/><Relationship Id="rId10" Type="http://schemas.openxmlformats.org/officeDocument/2006/relationships/image" Target="../media/image16.png"/><Relationship Id="rId9" Type="http://schemas.openxmlformats.org/officeDocument/2006/relationships/image" Target="../media/image24.png"/><Relationship Id="rId5" Type="http://schemas.openxmlformats.org/officeDocument/2006/relationships/hyperlink" Target="https://www.facebook.com/JazzCash/videos/manage-your-money-like-a-pro-with-jazzcash-spending-tracker-track-every-expense-/610381218243036/" TargetMode="External"/><Relationship Id="rId6" Type="http://schemas.openxmlformats.org/officeDocument/2006/relationships/hyperlink" Target="https://support.ynab.com/en_us/file-based-import-a-guide-Bkj4Sszyo" TargetMode="External"/><Relationship Id="rId7" Type="http://schemas.openxmlformats.org/officeDocument/2006/relationships/hyperlink" Target="https://support.ynab.com/en_us/file-based-import-a-guide-Bkj4Sszyo" TargetMode="External"/><Relationship Id="rId8" Type="http://schemas.openxmlformats.org/officeDocument/2006/relationships/hyperlink" Target="https://www.google.com/search?q=https://kaggle.com/datasets/personal-finance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350506" y="3058635"/>
            <a:ext cx="74910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Smart Transaction Sorter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&amp; Analytics System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605850" y="4824640"/>
            <a:ext cx="5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053550" y="5180673"/>
            <a:ext cx="143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PRESENTED BY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053550" y="5472075"/>
            <a:ext cx="1587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Mahhin Shahzad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63325" y="5180673"/>
            <a:ext cx="153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PRESENTED TO 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63325" y="5472075"/>
            <a:ext cx="2428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Mr.Muhammad Aqib Rauf</a:t>
            </a:r>
            <a:endParaRPr/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0525" y="621100"/>
            <a:ext cx="1730950" cy="173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1932150" y="2352075"/>
            <a:ext cx="86814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F1F1F"/>
                </a:solidFill>
                <a:latin typeface="Outfit"/>
                <a:ea typeface="Outfit"/>
                <a:cs typeface="Outfit"/>
                <a:sym typeface="Outfit"/>
              </a:rPr>
              <a:t>Federal Urdu University of Arts Commerce Science and Technology</a:t>
            </a:r>
            <a:endParaRPr sz="21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/>
          <p:cNvPicPr preferRelativeResize="0"/>
          <p:nvPr/>
        </p:nvPicPr>
        <p:blipFill rotWithShape="1">
          <a:blip r:embed="rId3">
            <a:alphaModFix/>
          </a:blip>
          <a:srcRect b="13636" l="0" r="0" t="13636"/>
          <a:stretch/>
        </p:blipFill>
        <p:spPr>
          <a:xfrm>
            <a:off x="6381750" y="1992510"/>
            <a:ext cx="5238749" cy="38100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7" name="Google Shape;97;p14"/>
          <p:cNvSpPr txBox="1"/>
          <p:nvPr/>
        </p:nvSpPr>
        <p:spPr>
          <a:xfrm>
            <a:off x="762000" y="6477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1.Introduction 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647700"/>
            <a:ext cx="57150" cy="47997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340619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Data Problem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274498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Digital wallets like Easypaisa and Sadapay provide access to transaction history, but usually in raw, messy CSV formats. Users are left drowning in unorganized data.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3945135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Our Vision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4349501"/>
            <a:ext cx="5238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To build the missing intelligence layer for Pakistan's digital ecosystem. We take over where </a:t>
            </a:r>
            <a:r>
              <a:rPr lang="en-US" sz="1500">
                <a:solidFill>
                  <a:srgbClr val="3B82F6"/>
                </a:solidFill>
                <a:latin typeface="Outfit"/>
                <a:ea typeface="Outfit"/>
                <a:cs typeface="Outfit"/>
                <a:sym typeface="Outfit"/>
              </a:rPr>
              <a:t>local wallets </a:t>
            </a:r>
            <a:r>
              <a:rPr lang="en-US" sz="150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stop, using </a:t>
            </a:r>
            <a:r>
              <a:rPr lang="en-US" sz="1500">
                <a:solidFill>
                  <a:srgbClr val="3B82F6"/>
                </a:solidFill>
                <a:latin typeface="Outfit"/>
                <a:ea typeface="Outfit"/>
                <a:cs typeface="Outfit"/>
                <a:sym typeface="Outfit"/>
              </a:rPr>
              <a:t>Automation and AI</a:t>
            </a:r>
            <a:r>
              <a:rPr lang="en-US" sz="150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to turn their raw data exports into a powerful, automated personal finance dashboard.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131375" y="5802500"/>
            <a:ext cx="3739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Figure 1: Operational Concept of the Smart Transaction Sorter</a:t>
            </a:r>
            <a:endParaRPr b="1" sz="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8" name="Google Shape;10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2358225" y="4064475"/>
            <a:ext cx="1774200" cy="574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762000" y="6477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</a:t>
            </a:r>
            <a:r>
              <a:rPr b="1" i="0" lang="en-US" sz="31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Literature Review &amp; Gap Analysis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571500" y="647700"/>
            <a:ext cx="57150" cy="47997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2138362" y="3577530"/>
            <a:ext cx="2676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4814887" y="3577530"/>
            <a:ext cx="158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6396037" y="3577530"/>
            <a:ext cx="152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7920037" y="3577530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2138362" y="4196655"/>
            <a:ext cx="2676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4814887" y="4196655"/>
            <a:ext cx="158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396037" y="4196655"/>
            <a:ext cx="152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7920037" y="4196655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2138362" y="4815780"/>
            <a:ext cx="2676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4814887" y="4815780"/>
            <a:ext cx="1581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396037" y="4815780"/>
            <a:ext cx="152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7920037" y="4815780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8" name="Google Shape;128;p16"/>
          <p:cNvGraphicFramePr/>
          <p:nvPr/>
        </p:nvGraphicFramePr>
        <p:xfrm>
          <a:off x="864938" y="1995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{16E8B5D9-9295-4CCA-A6AF-EBF0ABFE32EA}</a:tableStyleId>
              </a:tblPr>
              <a:tblGrid>
                <a:gridCol w="1707650"/>
                <a:gridCol w="3834400"/>
                <a:gridCol w="4621925"/>
              </a:tblGrid>
              <a:tr h="650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Outfit"/>
                          <a:ea typeface="Outfit"/>
                          <a:cs typeface="Outfit"/>
                          <a:sym typeface="Outfit"/>
                        </a:rPr>
                        <a:t>Evaluation Metric</a:t>
                      </a:r>
                      <a:endParaRPr b="1" sz="11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Outfit"/>
                          <a:ea typeface="Outfit"/>
                          <a:cs typeface="Outfit"/>
                          <a:sym typeface="Outfit"/>
                        </a:rPr>
                        <a:t>Local Digital Wallets (Easypaisa / SadaPay)</a:t>
                      </a:r>
                      <a:endParaRPr b="1" sz="11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Outfit"/>
                          <a:ea typeface="Outfit"/>
                          <a:cs typeface="Outfit"/>
                          <a:sym typeface="Outfit"/>
                        </a:rPr>
                        <a:t>Global Expense Trackers (YNAB / Spendee)</a:t>
                      </a:r>
                      <a:endParaRPr b="1" sz="11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69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Outfit"/>
                          <a:ea typeface="Outfit"/>
                          <a:cs typeface="Outfit"/>
                          <a:sym typeface="Outfit"/>
                        </a:rPr>
                        <a:t>Data Integration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Outfit"/>
                          <a:ea typeface="Outfit"/>
                          <a:cs typeface="Outfit"/>
                          <a:sym typeface="Outfit"/>
                        </a:rPr>
                        <a:t>Raw export only; provides unconnected CSV files.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Outfit"/>
                          <a:ea typeface="Outfit"/>
                          <a:cs typeface="Outfit"/>
                          <a:sym typeface="Outfit"/>
                        </a:rPr>
                        <a:t>Broken connectivity; rely on bank APIs that don’t work in Pakistan.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  <a:tr h="69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Outfit"/>
                          <a:ea typeface="Outfit"/>
                          <a:cs typeface="Outfit"/>
                          <a:sym typeface="Outfit"/>
                        </a:rPr>
                        <a:t>Sorting Logic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Outfit"/>
                          <a:ea typeface="Outfit"/>
                          <a:cs typeface="Outfit"/>
                          <a:sym typeface="Outfit"/>
                        </a:rPr>
                        <a:t>Non-existent; only logs the transaction, no analytics.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Outfit"/>
                          <a:ea typeface="Outfit"/>
                          <a:cs typeface="Outfit"/>
                          <a:sym typeface="Outfit"/>
                        </a:rPr>
                        <a:t>Rigid / rule-based; uses generic keywords and fails at context.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</a:tr>
              <a:tr h="69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Outfit"/>
                          <a:ea typeface="Outfit"/>
                          <a:cs typeface="Outfit"/>
                          <a:sym typeface="Outfit"/>
                        </a:rPr>
                        <a:t>Workflow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Outfit"/>
                          <a:ea typeface="Outfit"/>
                          <a:cs typeface="Outfit"/>
                          <a:sym typeface="Outfit"/>
                        </a:rPr>
                        <a:t>Manual processing; user must move data to Excel manually.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Outfit"/>
                          <a:ea typeface="Outfit"/>
                          <a:cs typeface="Outfit"/>
                          <a:sym typeface="Outfit"/>
                        </a:rPr>
                        <a:t>High friction; even where CSV import is supported, users still need to </a:t>
                      </a:r>
                      <a:r>
                        <a:rPr lang="en-US">
                          <a:latin typeface="Outfit"/>
                          <a:ea typeface="Outfit"/>
                          <a:cs typeface="Outfit"/>
                          <a:sym typeface="Outfit"/>
                        </a:rPr>
                        <a:t>remap</a:t>
                      </a:r>
                      <a:r>
                        <a:rPr lang="en-US">
                          <a:latin typeface="Outfit"/>
                          <a:ea typeface="Outfit"/>
                          <a:cs typeface="Outfit"/>
                          <a:sym typeface="Outfit"/>
                        </a:rPr>
                        <a:t> fields and clean data before &amp; after every import.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B cap="flat" cmpd="sng" w="119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Outfit"/>
                          <a:ea typeface="Outfit"/>
                          <a:cs typeface="Outfit"/>
                          <a:sym typeface="Outfit"/>
                        </a:rPr>
                        <a:t>Adaptability</a:t>
                      </a:r>
                      <a:r>
                        <a:rPr lang="en-US">
                          <a:latin typeface="Outfit"/>
                          <a:ea typeface="Outfit"/>
                          <a:cs typeface="Outfit"/>
                          <a:sym typeface="Outfit"/>
                        </a:rPr>
                        <a:t> 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Outfit"/>
                          <a:ea typeface="Outfit"/>
                          <a:cs typeface="Outfit"/>
                          <a:sym typeface="Outfit"/>
                        </a:rPr>
                        <a:t>N/A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R cap="flat" cmpd="sng" w="119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Outfit"/>
                          <a:ea typeface="Outfit"/>
                          <a:cs typeface="Outfit"/>
                          <a:sym typeface="Outfit"/>
                        </a:rPr>
                        <a:t>Fixed Cannot sort transactions into new, user-created categories.</a:t>
                      </a:r>
                      <a:endParaRPr/>
                    </a:p>
                  </a:txBody>
                  <a:tcPr marT="91425" marB="91425" marR="91425" marL="91425">
                    <a:lnL cap="flat" cmpd="sng" w="119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9" name="Google Shape;12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762" y="1585987"/>
            <a:ext cx="11477975" cy="467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99251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78585"/>
            <a:ext cx="5238750" cy="92958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762000" y="6477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3.</a:t>
            </a:r>
            <a:r>
              <a:rPr b="1" i="0" lang="en-US" sz="31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 Statement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71500" y="647700"/>
            <a:ext cx="57150" cy="47997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1987004"/>
            <a:ext cx="5500687" cy="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 Challenges:</a:t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1750" y="1238588"/>
            <a:ext cx="5238749" cy="52387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70000"/>
              </a:srgbClr>
            </a:outerShdw>
          </a:effectLst>
        </p:spPr>
      </p:pic>
      <p:sp>
        <p:nvSpPr>
          <p:cNvPr id="140" name="Google Shape;140;p17"/>
          <p:cNvSpPr txBox="1"/>
          <p:nvPr/>
        </p:nvSpPr>
        <p:spPr>
          <a:xfrm>
            <a:off x="952500" y="2391370"/>
            <a:ext cx="4857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No Built-in BI: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Local wallets (JazzCash, Naya Pay) excel at payments but fail at providing meaningful analytics.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52500" y="3634978"/>
            <a:ext cx="4857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Manual </a:t>
            </a:r>
            <a:r>
              <a:rPr b="1" lang="en-US" sz="165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Work</a:t>
            </a:r>
            <a:r>
              <a:rPr b="1" i="0" lang="en-US" sz="165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The current workflow requires exporting data, cleaning it in Excel, and manually tagging hundreds of rows.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00100" y="5069085"/>
            <a:ext cx="48196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Impact: This process is time-consuming, prone to human error, and static (no real-time insights).</a:t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2947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73078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245075" y="6437975"/>
            <a:ext cx="35121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Figure 2: Existing flow of wallet data – raw files only, no insight layer.</a:t>
            </a:r>
            <a:endParaRPr b="1" sz="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1371188"/>
            <a:ext cx="5420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P</a:t>
            </a:r>
            <a:r>
              <a:rPr lang="en-US" sz="165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ayments</a:t>
            </a:r>
            <a:r>
              <a:rPr lang="en-US" sz="165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Work, Insights Don't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98377"/>
            <a:ext cx="3492549" cy="2798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498377"/>
            <a:ext cx="3492549" cy="2798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498377"/>
            <a:ext cx="3492549" cy="279841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762000" y="6477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4.</a:t>
            </a:r>
            <a:r>
              <a:rPr b="1" i="0" lang="en-US" sz="31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Proposed Solution: An Integrated Pipeline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71500" y="647700"/>
            <a:ext cx="57150" cy="47997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794225" y="3431827"/>
            <a:ext cx="30470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Backend Logic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66775" y="389661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Python Django framework for robust data handling and secure API endpoints.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4572524" y="3431827"/>
            <a:ext cx="30470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Intelligent Sorting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4645074" y="3896617"/>
            <a:ext cx="2901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NLP for context-aware classification of transaction descriptions.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350824" y="3431827"/>
            <a:ext cx="30470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Visualization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423374" y="3896617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Interactive Power BI Dashboard integration for dynamic reporting.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51012" y="281270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0" y="281270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07774" y="2812702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/>
        </p:nvSpPr>
        <p:spPr>
          <a:xfrm>
            <a:off x="762000" y="1462236"/>
            <a:ext cx="4800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5.</a:t>
            </a:r>
            <a:r>
              <a:rPr b="1" i="0" lang="en-US" sz="31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Methodology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762000" y="2323207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A standalone web application that automates the entire lifecycle of transaction data from raw CSV to polished dashboard.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143000" y="3675757"/>
            <a:ext cx="4191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Step 1: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User uploads Raw Data.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143000" y="4249042"/>
            <a:ext cx="4191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Step 2: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System processes &amp; classifies.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1143000" y="4822328"/>
            <a:ext cx="4191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Step 3: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Clean data is piped to BI.</a:t>
            </a:r>
            <a:endParaRPr/>
          </a:p>
        </p:txBody>
      </p:sp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71385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28714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860428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7567950" y="6328175"/>
            <a:ext cx="412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/>
              <a:t>Figure 3 : WorkFlow Diagram of System </a:t>
            </a:r>
            <a:endParaRPr b="1" sz="900"/>
          </a:p>
        </p:txBody>
      </p:sp>
      <p:sp>
        <p:nvSpPr>
          <p:cNvPr id="178" name="Google Shape;178;p19"/>
          <p:cNvSpPr txBox="1"/>
          <p:nvPr/>
        </p:nvSpPr>
        <p:spPr>
          <a:xfrm>
            <a:off x="866800" y="5395625"/>
            <a:ext cx="5158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The System will be </a:t>
            </a:r>
            <a:r>
              <a:rPr lang="en-US" sz="150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developed</a:t>
            </a:r>
            <a:r>
              <a:rPr lang="en-US" sz="150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using Agile </a:t>
            </a:r>
            <a:r>
              <a:rPr lang="en-US" sz="150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Methodologies</a:t>
            </a:r>
            <a:r>
              <a:rPr lang="en-US" sz="150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incrementally With multiple Sprints 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9" name="Google Shape;179;p19" title="Flow Chart ( advance Programing )  (2)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6824" y="132250"/>
            <a:ext cx="4038375" cy="611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45977"/>
            <a:ext cx="3492549" cy="31032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345977"/>
            <a:ext cx="3492549" cy="31032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345977"/>
            <a:ext cx="3492549" cy="310321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762000" y="6477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6.</a:t>
            </a:r>
            <a:r>
              <a:rPr b="1" i="0" lang="en-US" sz="31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Architecture Modules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71500" y="647700"/>
            <a:ext cx="57150" cy="47997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866775" y="3279427"/>
            <a:ext cx="30470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Ingestion Module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66775" y="374421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Secure CSV intake form, validation of columns (Date, Amount), and parsing via Pandas.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4645074" y="3279427"/>
            <a:ext cx="30470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Logic Module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4645074" y="374421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Pre-processing strings, Classification Engine (mapping keywords), and Confidence Checks.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8423374" y="3279427"/>
            <a:ext cx="30470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BI Module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8423374" y="374421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Aggregation of totals, rendering via Power BI, and interactive date/category filters.</a:t>
            </a:r>
            <a:endParaRPr/>
          </a:p>
        </p:txBody>
      </p:sp>
      <p:pic>
        <p:nvPicPr>
          <p:cNvPr descr="image.png" id="195" name="Google Shape;19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66030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5074" y="266030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3374" y="2660302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/>
        </p:nvSpPr>
        <p:spPr>
          <a:xfrm>
            <a:off x="762000" y="6477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7.</a:t>
            </a:r>
            <a:r>
              <a:rPr b="1" i="0" lang="en-US" sz="31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Results &amp; Performance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71500" y="647700"/>
            <a:ext cx="57150" cy="47997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1847850" y="3577530"/>
            <a:ext cx="2828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4676775" y="3577530"/>
            <a:ext cx="2733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7410450" y="3577530"/>
            <a:ext cx="2933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1847850" y="4196655"/>
            <a:ext cx="2828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676775" y="4196655"/>
            <a:ext cx="2733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7410450" y="4196655"/>
            <a:ext cx="2933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1847850" y="4815780"/>
            <a:ext cx="28289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4676775" y="4815780"/>
            <a:ext cx="2733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7410450" y="4815780"/>
            <a:ext cx="2933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3" name="Google Shape;213;p21"/>
          <p:cNvGraphicFramePr/>
          <p:nvPr/>
        </p:nvGraphicFramePr>
        <p:xfrm>
          <a:off x="1357313" y="2019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{16E8B5D9-9295-4CCA-A6AF-EBF0ABFE32EA}</a:tableStyleId>
              </a:tblPr>
              <a:tblGrid>
                <a:gridCol w="1962150"/>
                <a:gridCol w="2552700"/>
                <a:gridCol w="2428875"/>
                <a:gridCol w="2533650"/>
              </a:tblGrid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Metric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The Challenge (Manual/Old)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Our Technical Solution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Measured Result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Processing Speed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Manual Entry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Takes ≈ 45 mins to classify 500 txns.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Automated Parsing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Using Python Pandas &amp; Django.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&lt; 60 Seconds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To process &amp; sort 500 rows.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Classification Accuracy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Variable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Prone to human fatigue &amp; error.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AI Classification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Using Hugging Face Zero-Shot.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80 % </a:t>
                      </a: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Accuracy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On validation datasets.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Data Security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High Risk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Cloud apps sell or leak data.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Isolated Database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Secure, private architecture.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No Third-Party Sharing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Data never leaves the system.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Insights Quality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Static Rows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Hard to see trends in CSV.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BI Integration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Interactive Dashboarding.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1F1F1F"/>
                          </a:solidFill>
                        </a:rPr>
                        <a:t>Dynamic Analysis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Filter by date &amp; category instantly.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4897635"/>
            <a:ext cx="85725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1238250" y="1144785"/>
            <a:ext cx="777626" cy="21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762000" y="6477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571500" y="647700"/>
            <a:ext cx="57150" cy="47997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2000250" y="5088135"/>
            <a:ext cx="819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Key Takeaway: Automation reduces </a:t>
            </a:r>
            <a:r>
              <a:rPr b="1" lang="en-US" sz="15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expense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management time by </a:t>
            </a:r>
            <a:r>
              <a:rPr b="1" lang="en-US" sz="15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60-70%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while significantly increasing insight accuracy.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1809750" y="1906785"/>
            <a:ext cx="85725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"We have successfully bridged the gap between raw data and personal financial intelligence</a:t>
            </a:r>
            <a:r>
              <a:rPr lang="en-US" sz="36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&amp; </a:t>
            </a:r>
            <a:r>
              <a:rPr lang="en-US" sz="36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Awareness</a:t>
            </a:r>
            <a:r>
              <a:rPr lang="en-US" sz="36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in local market of Pakistan .</a:t>
            </a:r>
            <a:r>
              <a:rPr lang="en-US" sz="36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0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0" i="0" lang="en-US" sz="36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/>
        </p:nvSpPr>
        <p:spPr>
          <a:xfrm>
            <a:off x="762000" y="6477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References &amp; Data Sources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571500" y="647700"/>
            <a:ext cx="57300" cy="48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571500" y="1912739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Market Gap Validation</a:t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571500" y="2221855"/>
            <a:ext cx="52389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6381750" y="1912739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 Solution &amp; Data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6381750" y="2221855"/>
            <a:ext cx="52389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571500" y="2431405"/>
            <a:ext cx="523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[1] SadaPay Help Center.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"Account Statement Guide: Exporting CSVs." </a:t>
            </a:r>
            <a:r>
              <a:rPr b="0" i="0" lang="en-US" sz="1200" u="none" cap="none" strike="noStrike">
                <a:solidFill>
                  <a:srgbClr val="3B82F6"/>
                </a:solidFill>
                <a:latin typeface="Outfit"/>
                <a:ea typeface="Outfit"/>
                <a:cs typeface="Outfit"/>
                <a:sym typeface="Outfit"/>
              </a:rPr>
              <a:t>[Available: help.sadapay.pk]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571500" y="2964656"/>
            <a:ext cx="523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[2] NayaPay Support.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"Viewing Documents &amp; Transaction History." </a:t>
            </a:r>
            <a:r>
              <a:rPr b="0" i="0" lang="en-US" sz="1200" u="none" cap="none" strike="noStrike">
                <a:solidFill>
                  <a:srgbClr val="3B82F6"/>
                </a:solidFill>
                <a:latin typeface="Outfit"/>
                <a:ea typeface="Outfit"/>
                <a:cs typeface="Outfit"/>
                <a:sym typeface="Outfit"/>
              </a:rPr>
              <a:t>[Available: help.nayapay.com]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571500" y="3497907"/>
            <a:ext cx="523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[3] Easypaisa.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"Schedule of Charges &amp; Features." </a:t>
            </a:r>
            <a:r>
              <a:rPr b="0" i="0" lang="en-US" sz="1200" u="none" cap="none" strike="noStrike">
                <a:solidFill>
                  <a:srgbClr val="3B82F6"/>
                </a:solidFill>
                <a:latin typeface="Outfit"/>
                <a:ea typeface="Outfit"/>
                <a:cs typeface="Outfit"/>
                <a:sym typeface="Outfit"/>
              </a:rPr>
              <a:t>[Available: easypaisa.com.pk/faqs]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571500" y="4031158"/>
            <a:ext cx="523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[4] JazzCash.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"Feature Update: Spending Tracker Announcement." </a:t>
            </a:r>
            <a:r>
              <a:rPr b="0" i="0" lang="en-US" sz="1200" u="none" cap="none" strike="noStrike">
                <a:solidFill>
                  <a:srgbClr val="3B82F6"/>
                </a:solidFill>
                <a:latin typeface="Outfit"/>
                <a:ea typeface="Outfit"/>
                <a:cs typeface="Outfit"/>
                <a:sym typeface="Outfit"/>
              </a:rPr>
              <a:t>[Available: JazzCash Official Video]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571500" y="4564409"/>
            <a:ext cx="523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[5] YNAB Support.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"File-Based Import: A Guide for Non-US Banks." </a:t>
            </a:r>
            <a:r>
              <a:rPr b="0" i="0" lang="en-US" sz="1200" u="none" cap="none" strike="noStrike">
                <a:solidFill>
                  <a:srgbClr val="3B82F6"/>
                </a:solidFill>
                <a:latin typeface="Outfit"/>
                <a:ea typeface="Outfit"/>
                <a:cs typeface="Outfit"/>
                <a:sym typeface="Outfit"/>
              </a:rPr>
              <a:t>[Available: support.ynab.com]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6381750" y="2431405"/>
            <a:ext cx="523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[6] Django Software Foundation.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"Django 5.0 Documentation: Views &amp; File Uploads." </a:t>
            </a:r>
            <a:r>
              <a:rPr b="0" i="0" lang="en-US" sz="1200" u="none" cap="none" strike="noStrike">
                <a:solidFill>
                  <a:srgbClr val="3B82F6"/>
                </a:solidFill>
                <a:latin typeface="Outfit"/>
                <a:ea typeface="Outfit"/>
                <a:cs typeface="Outfit"/>
                <a:sym typeface="Outfit"/>
              </a:rPr>
              <a:t>[Available: docs.djangoproject.com]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381750" y="3177926"/>
            <a:ext cx="523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[7] EntrepreneurLife.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"Personal Finance: Real-World Transactions Dataset." </a:t>
            </a:r>
            <a:r>
              <a:rPr b="0" i="0" lang="en-US" sz="1200" u="none" cap="none" strike="noStrike">
                <a:solidFill>
                  <a:srgbClr val="3B82F6"/>
                </a:solidFill>
                <a:latin typeface="Outfit"/>
                <a:ea typeface="Outfit"/>
                <a:cs typeface="Outfit"/>
                <a:sym typeface="Outfit"/>
              </a:rPr>
              <a:t>[Available: kaggle.com/datasets/personal-finance]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6381750" y="3711178"/>
            <a:ext cx="523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[8] Hugging Face.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"Zero-Shot Classification Pipeline." </a:t>
            </a:r>
            <a:r>
              <a:rPr b="0" i="0" lang="en-US" sz="1200" u="none" cap="none" strike="noStrike">
                <a:solidFill>
                  <a:srgbClr val="3B82F6"/>
                </a:solidFill>
                <a:latin typeface="Outfit"/>
                <a:ea typeface="Outfit"/>
                <a:cs typeface="Outfit"/>
                <a:sym typeface="Outfit"/>
              </a:rPr>
              <a:t>[Available: huggingface.co/docs]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6381750" y="4244429"/>
            <a:ext cx="523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[9] Microsoft.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"Embed Content in an Application (Power BI)." </a:t>
            </a:r>
            <a:r>
              <a:rPr b="0" i="0" lang="en-US" sz="1200" u="none" cap="none" strike="noStrike">
                <a:solidFill>
                  <a:srgbClr val="3B82F6"/>
                </a:solidFill>
                <a:latin typeface="Outfit"/>
                <a:ea typeface="Outfit"/>
                <a:cs typeface="Outfit"/>
                <a:sym typeface="Outfit"/>
              </a:rPr>
              <a:t>[Available: learn.microsoft.com]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6381750" y="4777680"/>
            <a:ext cx="523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[10] R. Shah.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"Income-Expense Tracker (Django Open Source)." </a:t>
            </a:r>
            <a:endParaRPr b="0" i="0" sz="1200" u="none" cap="none" strike="noStrike">
              <a:solidFill>
                <a:srgbClr val="334155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sng" cap="none" strike="noStrike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3"/>
              </a:rPr>
              <a:t>[ https://github.com/rishank-shah/Income-Expense-Tracker]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381750" y="5310931"/>
            <a:ext cx="523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[11] H. Patel.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"Sales-Report-Generator (Python Script)." </a:t>
            </a:r>
            <a:r>
              <a:rPr b="0" i="0" lang="en-US" sz="1200" u="sng" cap="none" strike="noStrike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4"/>
              </a:rPr>
              <a:t>[</a:t>
            </a:r>
            <a:r>
              <a:rPr lang="en-US" sz="1200" u="sng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5"/>
              </a:rPr>
              <a:t>https://github.com/hita03/Sales-Report-Generator]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/>
        </p:nvSpPr>
        <p:spPr>
          <a:xfrm>
            <a:off x="478975" y="338575"/>
            <a:ext cx="55647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References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316475" y="433375"/>
            <a:ext cx="57300" cy="48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414950" y="1431100"/>
            <a:ext cx="10231800" cy="50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[</a:t>
            </a:r>
            <a:r>
              <a:rPr b="1" lang="en-US" sz="1100" u="sng">
                <a:solidFill>
                  <a:schemeClr val="hlink"/>
                </a:solidFill>
                <a:hlinkClick r:id="rId3"/>
              </a:rPr>
              <a:t>1</a:t>
            </a:r>
            <a:r>
              <a:rPr b="1" lang="en-US" sz="1100">
                <a:solidFill>
                  <a:schemeClr val="dk1"/>
                </a:solidFill>
              </a:rPr>
              <a:t>] </a:t>
            </a: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SadaPay Help Center. "Account Statement: How to view your transaction history," </a:t>
            </a:r>
            <a:r>
              <a:rPr i="1"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SadaPay Official Knowledge Base</a:t>
            </a: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 u="sng">
                <a:solidFill>
                  <a:schemeClr val="hlink"/>
                </a:solidFill>
                <a:hlinkClick r:id="rId4"/>
              </a:rPr>
              <a:t>[2]</a:t>
            </a:r>
            <a:r>
              <a:rPr b="1" lang="en-US" sz="1100">
                <a:solidFill>
                  <a:schemeClr val="dk1"/>
                </a:solidFill>
              </a:rPr>
              <a:t> </a:t>
            </a: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NayaPay Support. "How can I view my documents on NayaPay?" </a:t>
            </a:r>
            <a:r>
              <a:rPr i="1"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NayaPay Help Center</a:t>
            </a: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 u="sng">
                <a:solidFill>
                  <a:schemeClr val="hlink"/>
                </a:solidFill>
                <a:hlinkClick r:id="rId5"/>
              </a:rPr>
              <a:t>[3]</a:t>
            </a:r>
            <a:r>
              <a:rPr b="1" lang="en-US" sz="1100">
                <a:solidFill>
                  <a:schemeClr val="dk1"/>
                </a:solidFill>
              </a:rPr>
              <a:t> </a:t>
            </a: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JazzCash. "Spending Tracker Feature Announcement," </a:t>
            </a:r>
            <a:r>
              <a:rPr i="1"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JazzCash Official Media</a:t>
            </a: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, 2025.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sng">
                <a:solidFill>
                  <a:schemeClr val="hlink"/>
                </a:solidFill>
                <a:hlinkClick r:id="rId6"/>
              </a:rPr>
              <a:t>[4</a:t>
            </a:r>
            <a:r>
              <a:rPr lang="en-US" sz="1500">
                <a:solidFill>
                  <a:srgbClr val="334155"/>
                </a:solidFill>
                <a:uFill>
                  <a:noFill/>
                </a:uFill>
                <a:latin typeface="Outfit"/>
                <a:ea typeface="Outfit"/>
                <a:cs typeface="Outfit"/>
                <a:sym typeface="Outfi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r>
              <a:rPr lang="en-US" sz="150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YNAB (You Need A Budget). "File-Based Import: A Guide for Non-US Banks," YNAB Support.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 u="sng">
                <a:solidFill>
                  <a:schemeClr val="hlink"/>
                </a:solidFill>
                <a:hlinkClick r:id="rId8"/>
              </a:rPr>
              <a:t>[5]</a:t>
            </a: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EntrepreneurLife. "Personal Finance: Real-World Transactions Dataset (2018-2019)," Kaggle Open Data Repository.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2" name="Google Shape;252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4950" y="3069852"/>
            <a:ext cx="5238750" cy="2271266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795950" y="3450852"/>
            <a:ext cx="47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 Libraries</a:t>
            </a:r>
            <a:endParaRPr/>
          </a:p>
        </p:txBody>
      </p:sp>
      <p:pic>
        <p:nvPicPr>
          <p:cNvPr descr="image.png" id="254" name="Google Shape;254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8475" y="3460377"/>
            <a:ext cx="2190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1176950" y="3855218"/>
            <a:ext cx="409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Django 5.0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(Web Framework)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1176950" y="4160018"/>
            <a:ext cx="409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Pandas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("Data Analysis with Python")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1176950" y="4464818"/>
            <a:ext cx="409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Microsoft Power BI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Developer Docs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 txBox="1"/>
          <p:nvPr/>
        </p:nvSpPr>
        <p:spPr>
          <a:xfrm>
            <a:off x="3420665" y="2358330"/>
            <a:ext cx="5350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You!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4395787" y="3882330"/>
            <a:ext cx="340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Questions ?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